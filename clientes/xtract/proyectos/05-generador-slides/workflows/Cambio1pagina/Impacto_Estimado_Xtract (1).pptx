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56602" cy="10681106"/>
  <p:notesSz cx="10681106" cy="755660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Comercial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658368"/>
            <a:ext cx="960120" cy="0"/>
          </a:xfrm>
          <a:prstGeom prst="line">
            <a:avLst/>
          </a:prstGeom>
          <a:noFill/>
          <a:ln w="25400">
            <a:solidFill>
              <a:srgbClr val="0075FF"/>
            </a:solidFill>
            <a:prstDash val="solid"/>
          </a:ln>
        </p:spPr>
      </p:sp>
      <p:pic>
        <p:nvPicPr>
          <p:cNvPr id="4" name="Image 0" descr="deloitt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6891" y="329184"/>
            <a:ext cx="1171222" cy="23258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84418" y="347472"/>
            <a:ext cx="0" cy="196007"/>
          </a:xfrm>
          <a:prstGeom prst="line">
            <a:avLst/>
          </a:prstGeom>
          <a:noFill/>
          <a:ln w="12700">
            <a:solidFill>
              <a:srgbClr val="E3E3E8"/>
            </a:solidFill>
            <a:prstDash val="solid"/>
          </a:ln>
        </p:spPr>
      </p:sp>
      <p:pic>
        <p:nvPicPr>
          <p:cNvPr id="6" name="Image 1" descr="xt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722" y="329184"/>
            <a:ext cx="777240" cy="23258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66891" y="616631"/>
            <a:ext cx="22410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Value  ·  In Alliance with Deloitte</a:t>
            </a:r>
            <a:endParaRPr lang="en-US" sz="85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896112"/>
            <a:ext cx="64593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D2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estimado de Xtract</a:t>
            </a:r>
            <a:endParaRPr lang="en-US" sz="2500" dirty="0"/>
          </a:p>
        </p:txBody>
      </p:sp>
      <p:sp>
        <p:nvSpPr>
          <p:cNvPr id="9" name="Shape 5"/>
          <p:cNvSpPr/>
          <p:nvPr/>
        </p:nvSpPr>
        <p:spPr>
          <a:xfrm>
            <a:off x="548640" y="1417320"/>
            <a:ext cx="2031187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3E3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13232" y="1536192"/>
            <a:ext cx="17020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9B9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FACTURAS / MES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713232" y="1783080"/>
            <a:ext cx="17020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2762707" y="1417320"/>
            <a:ext cx="2031187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3E3E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927299" y="1536192"/>
            <a:ext cx="17020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9B9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 EN EL PROCESO</a:t>
            </a:r>
            <a:endParaRPr lang="en-US" sz="800" dirty="0"/>
          </a:p>
        </p:txBody>
      </p:sp>
      <p:sp>
        <p:nvSpPr>
          <p:cNvPr id="14" name="Text 10"/>
          <p:cNvSpPr txBox="1"/>
          <p:nvPr/>
        </p:nvSpPr>
        <p:spPr>
          <a:xfrm>
            <a:off x="2927299" y="1783080"/>
            <a:ext cx="17020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4976774" y="1417320"/>
            <a:ext cx="2031187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3E3E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141366" y="1536192"/>
            <a:ext cx="17020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9B9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GASTO ANUAL EN PROVEEDORES</a:t>
            </a:r>
            <a:endParaRPr lang="en-US" sz="800" dirty="0"/>
          </a:p>
        </p:txBody>
      </p:sp>
      <p:sp>
        <p:nvSpPr>
          <p:cNvPr id="17" name="Text 13"/>
          <p:cNvSpPr txBox="1"/>
          <p:nvPr/>
        </p:nvSpPr>
        <p:spPr>
          <a:xfrm>
            <a:off x="5141366" y="1783080"/>
            <a:ext cx="17020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750.000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548640" y="2331720"/>
            <a:ext cx="6459322" cy="1371600"/>
          </a:xfrm>
          <a:prstGeom prst="roundRect">
            <a:avLst>
              <a:gd name="adj" fmla="val 4667"/>
            </a:avLst>
          </a:prstGeom>
          <a:solidFill>
            <a:srgbClr val="F0F7FE"/>
          </a:solidFill>
          <a:ln/>
        </p:spPr>
      </p:sp>
      <p:sp>
        <p:nvSpPr>
          <p:cNvPr id="19" name="Shape 15"/>
          <p:cNvSpPr/>
          <p:nvPr/>
        </p:nvSpPr>
        <p:spPr>
          <a:xfrm>
            <a:off x="822960" y="2628900"/>
            <a:ext cx="777240" cy="7772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75FF"/>
            </a:solidFill>
            <a:prstDash val="solid"/>
          </a:ln>
        </p:spPr>
      </p:sp>
      <p:pic>
        <p:nvPicPr>
          <p:cNvPr id="20" name="Image 2" descr="icon_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81178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828800" y="2633472"/>
            <a:ext cx="27355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007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1.200 </a:t>
            </a:r>
            <a:pPr indent="0" marL="0">
              <a:buNone/>
            </a:pPr>
            <a:r>
              <a:rPr lang="en-US" sz="1250" b="1" dirty="0">
                <a:solidFill>
                  <a:srgbClr val="2D2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liberadas al año</a:t>
            </a:r>
            <a:endParaRPr lang="en-US" sz="2700" dirty="0"/>
          </a:p>
        </p:txBody>
      </p:sp>
      <p:sp>
        <p:nvSpPr>
          <p:cNvPr id="22" name="Text 17"/>
          <p:cNvSpPr txBox="1"/>
          <p:nvPr/>
        </p:nvSpPr>
        <p:spPr>
          <a:xfrm>
            <a:off x="1828800" y="3063240"/>
            <a:ext cx="27355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100 horas/mes  ·  60% de la capacidad actual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747199" y="2532888"/>
            <a:ext cx="0" cy="969264"/>
          </a:xfrm>
          <a:prstGeom prst="line">
            <a:avLst/>
          </a:prstGeom>
          <a:noFill/>
          <a:ln w="12700">
            <a:solidFill>
              <a:srgbClr val="C9DDF5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948367" y="2331720"/>
            <a:ext cx="19224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tareas manuales, más tiempo para lo que realmente importa.</a:t>
            </a:r>
            <a:endParaRPr lang="en-US" sz="1150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4023360"/>
            <a:ext cx="64593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D2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potencial ahorrado: </a:t>
            </a:r>
            <a:pPr indent="0" marL="0">
              <a:buNone/>
            </a:pPr>
            <a:r>
              <a:rPr lang="en-US" sz="1650" b="1" dirty="0">
                <a:solidFill>
                  <a:srgbClr val="2D2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34.130/año</a:t>
            </a:r>
            <a:endParaRPr lang="en-US" sz="1650" dirty="0"/>
          </a:p>
        </p:txBody>
      </p:sp>
      <p:sp>
        <p:nvSpPr>
          <p:cNvPr id="26" name="Shape 21"/>
          <p:cNvSpPr/>
          <p:nvPr/>
        </p:nvSpPr>
        <p:spPr>
          <a:xfrm>
            <a:off x="548640" y="4480560"/>
            <a:ext cx="2018995" cy="2743200"/>
          </a:xfrm>
          <a:prstGeom prst="roundRect">
            <a:avLst>
              <a:gd name="adj" fmla="val 2717"/>
            </a:avLst>
          </a:prstGeom>
          <a:solidFill>
            <a:srgbClr val="FFFFFF"/>
          </a:solidFill>
          <a:ln w="12700">
            <a:solidFill>
              <a:srgbClr val="E3E3E8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681728"/>
            <a:ext cx="566928" cy="566928"/>
          </a:xfrm>
          <a:prstGeom prst="ellipse">
            <a:avLst/>
          </a:prstGeom>
          <a:solidFill>
            <a:srgbClr val="E6F1FE"/>
          </a:solidFill>
          <a:ln/>
        </p:spPr>
      </p:sp>
      <p:pic>
        <p:nvPicPr>
          <p:cNvPr id="28" name="Image 3" descr="icon_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800600"/>
            <a:ext cx="329184" cy="32918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49808" y="5376672"/>
            <a:ext cx="16166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8.580</a:t>
            </a:r>
            <a:endParaRPr lang="en-US" sz="1700" dirty="0"/>
          </a:p>
        </p:txBody>
      </p:sp>
      <p:sp>
        <p:nvSpPr>
          <p:cNvPr id="30" name="Text 24"/>
          <p:cNvSpPr txBox="1"/>
          <p:nvPr/>
        </p:nvSpPr>
        <p:spPr>
          <a:xfrm>
            <a:off x="749808" y="5715000"/>
            <a:ext cx="16166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2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liberado</a:t>
            </a:r>
            <a:endParaRPr lang="en-US" sz="1150" dirty="0"/>
          </a:p>
        </p:txBody>
      </p:sp>
      <p:sp>
        <p:nvSpPr>
          <p:cNvPr id="31" name="Text 25"/>
          <p:cNvSpPr txBox="1"/>
          <p:nvPr/>
        </p:nvSpPr>
        <p:spPr>
          <a:xfrm>
            <a:off x="749808" y="6172200"/>
            <a:ext cx="16166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1.200 horas × USD 7,15/h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749808" y="6565392"/>
            <a:ext cx="1616659" cy="0"/>
          </a:xfrm>
          <a:prstGeom prst="line">
            <a:avLst/>
          </a:prstGeom>
          <a:noFill/>
          <a:ln w="9525">
            <a:solidFill>
              <a:srgbClr val="E3E3E8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749808" y="6656832"/>
            <a:ext cx="16166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costo del empleado contempla salario bruto, cargas sociales y costos laborales asociados.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2768803" y="4480560"/>
            <a:ext cx="2018995" cy="2743200"/>
          </a:xfrm>
          <a:prstGeom prst="roundRect">
            <a:avLst>
              <a:gd name="adj" fmla="val 2717"/>
            </a:avLst>
          </a:prstGeom>
          <a:solidFill>
            <a:srgbClr val="FFFFFF"/>
          </a:solidFill>
          <a:ln w="12700">
            <a:solidFill>
              <a:srgbClr val="E3E3E8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2969971" y="4681728"/>
            <a:ext cx="566928" cy="566928"/>
          </a:xfrm>
          <a:prstGeom prst="ellipse">
            <a:avLst/>
          </a:prstGeom>
          <a:solidFill>
            <a:srgbClr val="E6F1FE"/>
          </a:solidFill>
          <a:ln/>
        </p:spPr>
      </p:sp>
      <p:pic>
        <p:nvPicPr>
          <p:cNvPr id="36" name="Image 4" descr="icon_bar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8843" y="4800600"/>
            <a:ext cx="329184" cy="329184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2969971" y="5376672"/>
            <a:ext cx="16166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14.300</a:t>
            </a:r>
            <a:endParaRPr lang="en-US" sz="1700" dirty="0"/>
          </a:p>
        </p:txBody>
      </p:sp>
      <p:sp>
        <p:nvSpPr>
          <p:cNvPr id="38" name="Text 31"/>
          <p:cNvSpPr txBox="1"/>
          <p:nvPr/>
        </p:nvSpPr>
        <p:spPr>
          <a:xfrm>
            <a:off x="2969971" y="5715000"/>
            <a:ext cx="16166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2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Crecimiento sin sumar personal</a:t>
            </a:r>
            <a:endParaRPr lang="en-US" sz="1150" dirty="0"/>
          </a:p>
        </p:txBody>
      </p:sp>
      <p:sp>
        <p:nvSpPr>
          <p:cNvPr id="39" name="Text 32"/>
          <p:cNvSpPr txBox="1"/>
          <p:nvPr/>
        </p:nvSpPr>
        <p:spPr>
          <a:xfrm>
            <a:off x="2969971" y="6172200"/>
            <a:ext cx="16166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 al costo anual de 1 empleado Full-time adicional.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2969971" y="6565392"/>
            <a:ext cx="1616659" cy="0"/>
          </a:xfrm>
          <a:prstGeom prst="line">
            <a:avLst/>
          </a:prstGeom>
          <a:noFill/>
          <a:ln w="9525">
            <a:solidFill>
              <a:srgbClr val="E3E3E8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2969971" y="6656832"/>
            <a:ext cx="16166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absorber mayor volumen de facturas sin incorporar nuevos recursos.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4988966" y="4480560"/>
            <a:ext cx="2018995" cy="2743200"/>
          </a:xfrm>
          <a:prstGeom prst="roundRect">
            <a:avLst>
              <a:gd name="adj" fmla="val 2717"/>
            </a:avLst>
          </a:prstGeom>
          <a:solidFill>
            <a:srgbClr val="FFFFFF"/>
          </a:solidFill>
          <a:ln w="12700">
            <a:solidFill>
              <a:srgbClr val="E3E3E8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5190134" y="4681728"/>
            <a:ext cx="566928" cy="566928"/>
          </a:xfrm>
          <a:prstGeom prst="ellipse">
            <a:avLst/>
          </a:prstGeom>
          <a:solidFill>
            <a:srgbClr val="E6F1FE"/>
          </a:solidFill>
          <a:ln/>
        </p:spPr>
      </p:sp>
      <p:pic>
        <p:nvPicPr>
          <p:cNvPr id="44" name="Image 5" descr="icon_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9006" y="4800600"/>
            <a:ext cx="329184" cy="329184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5190134" y="5376672"/>
            <a:ext cx="16166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11.250</a:t>
            </a:r>
            <a:endParaRPr lang="en-US" sz="1700" dirty="0"/>
          </a:p>
        </p:txBody>
      </p:sp>
      <p:sp>
        <p:nvSpPr>
          <p:cNvPr id="46" name="Text 38"/>
          <p:cNvSpPr txBox="1"/>
          <p:nvPr/>
        </p:nvSpPr>
        <p:spPr>
          <a:xfrm>
            <a:off x="5190134" y="5715000"/>
            <a:ext cx="16166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2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y pérdidas evitables</a:t>
            </a:r>
            <a:endParaRPr lang="en-US" sz="1150" dirty="0"/>
          </a:p>
        </p:txBody>
      </p:sp>
      <p:sp>
        <p:nvSpPr>
          <p:cNvPr id="47" name="Text 39"/>
          <p:cNvSpPr txBox="1"/>
          <p:nvPr/>
        </p:nvSpPr>
        <p:spPr>
          <a:xfrm>
            <a:off x="5190134" y="6172200"/>
            <a:ext cx="16166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750.000 × 1,5%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5190134" y="6565392"/>
            <a:ext cx="1616659" cy="0"/>
          </a:xfrm>
          <a:prstGeom prst="line">
            <a:avLst/>
          </a:prstGeom>
          <a:noFill/>
          <a:ln w="9525">
            <a:solidFill>
              <a:srgbClr val="E3E3E8"/>
            </a:solidFill>
            <a:prstDash val="solid"/>
          </a:ln>
        </p:spPr>
      </p:sp>
      <p:sp>
        <p:nvSpPr>
          <p:cNvPr id="49" name="Text 41"/>
          <p:cNvSpPr txBox="1"/>
          <p:nvPr/>
        </p:nvSpPr>
        <p:spPr>
          <a:xfrm>
            <a:off x="5190134" y="6656832"/>
            <a:ext cx="16166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exposición a errores, duplicados, crédito fiscal y otros desvíos en el proceso de facturas.</a:t>
            </a:r>
            <a:endParaRPr lang="en-US" sz="950" dirty="0"/>
          </a:p>
        </p:txBody>
      </p:sp>
      <p:sp>
        <p:nvSpPr>
          <p:cNvPr id="50" name="Shape 42"/>
          <p:cNvSpPr/>
          <p:nvPr/>
        </p:nvSpPr>
        <p:spPr>
          <a:xfrm>
            <a:off x="548640" y="7543800"/>
            <a:ext cx="6459322" cy="1188720"/>
          </a:xfrm>
          <a:prstGeom prst="roundRect">
            <a:avLst>
              <a:gd name="adj" fmla="val 4615"/>
            </a:avLst>
          </a:prstGeom>
          <a:solidFill>
            <a:srgbClr val="F0F7FE"/>
          </a:solidFill>
          <a:ln/>
        </p:spPr>
      </p:sp>
      <p:sp>
        <p:nvSpPr>
          <p:cNvPr id="51" name="Text 43"/>
          <p:cNvSpPr txBox="1"/>
          <p:nvPr/>
        </p:nvSpPr>
        <p:spPr>
          <a:xfrm>
            <a:off x="685800" y="7744968"/>
            <a:ext cx="1878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9B9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AÑO</a:t>
            </a:r>
            <a:endParaRPr lang="en-US" sz="850" dirty="0"/>
          </a:p>
        </p:txBody>
      </p:sp>
      <p:sp>
        <p:nvSpPr>
          <p:cNvPr id="52" name="Text 44"/>
          <p:cNvSpPr txBox="1"/>
          <p:nvPr/>
        </p:nvSpPr>
        <p:spPr>
          <a:xfrm>
            <a:off x="685800" y="8202168"/>
            <a:ext cx="18787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C2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12.850</a:t>
            </a:r>
            <a:endParaRPr lang="en-US" sz="2100" dirty="0"/>
          </a:p>
        </p:txBody>
      </p:sp>
      <p:sp>
        <p:nvSpPr>
          <p:cNvPr id="53" name="Text 45"/>
          <p:cNvSpPr txBox="1"/>
          <p:nvPr/>
        </p:nvSpPr>
        <p:spPr>
          <a:xfrm>
            <a:off x="2445715" y="8165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B9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54" name="Text 46"/>
          <p:cNvSpPr txBox="1"/>
          <p:nvPr/>
        </p:nvSpPr>
        <p:spPr>
          <a:xfrm>
            <a:off x="2838907" y="7744968"/>
            <a:ext cx="1878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9B9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POTENCIAL AHORRADO ANUAL</a:t>
            </a:r>
            <a:endParaRPr lang="en-US" sz="850" dirty="0"/>
          </a:p>
        </p:txBody>
      </p:sp>
      <p:sp>
        <p:nvSpPr>
          <p:cNvPr id="55" name="Text 47"/>
          <p:cNvSpPr txBox="1"/>
          <p:nvPr/>
        </p:nvSpPr>
        <p:spPr>
          <a:xfrm>
            <a:off x="2838907" y="8202168"/>
            <a:ext cx="18787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C2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34.130</a:t>
            </a:r>
            <a:endParaRPr lang="en-US" sz="2100" dirty="0"/>
          </a:p>
        </p:txBody>
      </p:sp>
      <p:sp>
        <p:nvSpPr>
          <p:cNvPr id="56" name="Text 48"/>
          <p:cNvSpPr txBox="1"/>
          <p:nvPr/>
        </p:nvSpPr>
        <p:spPr>
          <a:xfrm>
            <a:off x="4598822" y="8165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B9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57" name="Text 49"/>
          <p:cNvSpPr txBox="1"/>
          <p:nvPr/>
        </p:nvSpPr>
        <p:spPr>
          <a:xfrm>
            <a:off x="4992014" y="7744968"/>
            <a:ext cx="1878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9B9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POTENCIAL AÑO 1</a:t>
            </a:r>
            <a:endParaRPr lang="en-US" sz="850" dirty="0"/>
          </a:p>
        </p:txBody>
      </p:sp>
      <p:sp>
        <p:nvSpPr>
          <p:cNvPr id="58" name="Text 50"/>
          <p:cNvSpPr txBox="1"/>
          <p:nvPr/>
        </p:nvSpPr>
        <p:spPr>
          <a:xfrm>
            <a:off x="4992014" y="8202168"/>
            <a:ext cx="18787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7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+166%</a:t>
            </a:r>
            <a:endParaRPr lang="en-US" sz="2100" dirty="0"/>
          </a:p>
        </p:txBody>
      </p:sp>
      <p:sp>
        <p:nvSpPr>
          <p:cNvPr id="59" name="Shape 51"/>
          <p:cNvSpPr/>
          <p:nvPr/>
        </p:nvSpPr>
        <p:spPr>
          <a:xfrm>
            <a:off x="548640" y="9144000"/>
            <a:ext cx="6459322" cy="0"/>
          </a:xfrm>
          <a:prstGeom prst="line">
            <a:avLst/>
          </a:prstGeom>
          <a:noFill/>
          <a:ln w="9525">
            <a:solidFill>
              <a:srgbClr val="E3E3E8"/>
            </a:solidFill>
            <a:prstDash val="solid"/>
          </a:ln>
        </p:spPr>
      </p:sp>
      <p:sp>
        <p:nvSpPr>
          <p:cNvPr id="60" name="Shape 52"/>
          <p:cNvSpPr/>
          <p:nvPr/>
        </p:nvSpPr>
        <p:spPr>
          <a:xfrm>
            <a:off x="0" y="10553090"/>
            <a:ext cx="7556602" cy="128016"/>
          </a:xfrm>
          <a:prstGeom prst="rect">
            <a:avLst/>
          </a:prstGeom>
          <a:solidFill>
            <a:srgbClr val="0075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2026-09-09T19:24:11Z</dcterms:created>
  <dcterms:modified xsi:type="dcterms:W3CDTF">2026-09-09T19:24:11Z</dcterms:modified>
</cp:coreProperties>
</file>